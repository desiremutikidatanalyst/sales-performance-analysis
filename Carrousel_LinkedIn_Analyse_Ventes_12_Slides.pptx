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Comment une entreprise a généré 2,3 M$ de ventes…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…tout en perdant de l'argent sur certains marchés.</a:t>
            </a:r>
          </a:p>
          <a:p>
            <a:pPr>
              <a:defRPr sz="2000"/>
            </a:pPr>
            <a:r>
              <a:t>Analyse des performances commerciales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Le défi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Objectifs :</a:t>
            </a:r>
          </a:p>
          <a:p>
            <a:pPr>
              <a:defRPr sz="2000"/>
            </a:pPr>
            <a:r>
              <a:t>• Identifier les marchés rentables</a:t>
            </a:r>
          </a:p>
          <a:p>
            <a:pPr>
              <a:defRPr sz="2000"/>
            </a:pPr>
            <a:r>
              <a:t>• Optimiser les produits</a:t>
            </a:r>
          </a:p>
          <a:p>
            <a:pPr>
              <a:defRPr sz="2000"/>
            </a:pPr>
            <a:r>
              <a:t>• Fidéliser les clients</a:t>
            </a:r>
          </a:p>
          <a:p>
            <a:pPr>
              <a:defRPr sz="2000"/>
            </a:pPr>
            <a:r>
              <a:t>• Améliorer les profits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Les KPI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CA : 2,30 M$</a:t>
            </a:r>
          </a:p>
          <a:p>
            <a:pPr>
              <a:defRPr sz="2000"/>
            </a:pPr>
            <a:r>
              <a:t>Profit : 286 k$</a:t>
            </a:r>
          </a:p>
          <a:p>
            <a:pPr>
              <a:defRPr sz="2000"/>
            </a:pPr>
            <a:r>
              <a:t>Marge : 12,47 %</a:t>
            </a:r>
          </a:p>
          <a:p>
            <a:pPr>
              <a:defRPr sz="2000"/>
            </a:pPr>
            <a:r>
              <a:t>37 871 unités</a:t>
            </a:r>
          </a:p>
          <a:p>
            <a:pPr>
              <a:defRPr sz="2000"/>
            </a:pPr>
            <a:r>
              <a:t>793 clients</a:t>
            </a:r>
          </a:p>
          <a:p>
            <a:pPr>
              <a:defRPr sz="2000"/>
            </a:pPr>
            <a:r>
              <a:t>1 850 produits</a:t>
            </a:r>
          </a:p>
          <a:p>
            <a:pPr>
              <a:defRPr sz="2000"/>
            </a:pPr>
            <a:r>
              <a:t>49 États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Où l'entreprise vend le plus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Top ventes :</a:t>
            </a:r>
          </a:p>
          <a:p>
            <a:pPr>
              <a:defRPr sz="2000"/>
            </a:pPr>
            <a:r>
              <a:t>1. California</a:t>
            </a:r>
          </a:p>
          <a:p>
            <a:pPr>
              <a:defRPr sz="2000"/>
            </a:pPr>
            <a:r>
              <a:t>2. New York</a:t>
            </a:r>
          </a:p>
          <a:p>
            <a:pPr>
              <a:defRPr sz="2000"/>
            </a:pPr>
            <a:r>
              <a:t>3. Texas</a:t>
            </a:r>
          </a:p>
          <a:p>
            <a:pPr>
              <a:defRPr sz="2000"/>
            </a:pPr>
            <a:r>
              <a:t>4. Washington</a:t>
            </a:r>
          </a:p>
          <a:p>
            <a:pPr>
              <a:defRPr sz="2000"/>
            </a:pPr>
            <a:r>
              <a:t>5. Pennsylvania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Les marchés les plus rentables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Top profits :</a:t>
            </a:r>
          </a:p>
          <a:p>
            <a:pPr>
              <a:defRPr sz="2000"/>
            </a:pPr>
            <a:r>
              <a:t>California</a:t>
            </a:r>
          </a:p>
          <a:p>
            <a:pPr>
              <a:defRPr sz="2000"/>
            </a:pPr>
            <a:r>
              <a:t>New York</a:t>
            </a:r>
          </a:p>
          <a:p>
            <a:pPr>
              <a:defRPr sz="2000"/>
            </a:pPr>
            <a:r>
              <a:t>Washington</a:t>
            </a:r>
          </a:p>
          <a:p>
            <a:pPr>
              <a:defRPr sz="2000"/>
            </a:pPr>
            <a:r>
              <a:t>Michigan</a:t>
            </a:r>
          </a:p>
          <a:p>
            <a:pPr>
              <a:defRPr sz="2000"/>
            </a:pPr>
            <a:r>
              <a:t>Virginia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Le profit est plus important que le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Produits : gagnants et perdants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Développer les produits rentables.</a:t>
            </a:r>
          </a:p>
          <a:p>
            <a:pPr>
              <a:defRPr sz="2000"/>
            </a:pPr>
            <a:r>
              <a:t>Réviser les produits déficitaires.</a:t>
            </a:r>
          </a:p>
          <a:p>
            <a:pPr>
              <a:defRPr sz="2000"/>
            </a:pPr>
            <a:r>
              <a:t>Utiliser bundles et cross-selling.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Où investir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Technology = meilleure catégorie.</a:t>
            </a:r>
          </a:p>
          <a:p>
            <a:pPr>
              <a:defRPr sz="2000"/>
            </a:pPr>
            <a:r>
              <a:t>Furniture = optimisation nécessaire.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Les meilleurs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Mettre en place :</a:t>
            </a:r>
          </a:p>
          <a:p>
            <a:pPr>
              <a:defRPr sz="2000"/>
            </a:pPr>
            <a:r>
              <a:t>• Fidélité</a:t>
            </a:r>
          </a:p>
          <a:p>
            <a:pPr>
              <a:defRPr sz="2000"/>
            </a:pPr>
            <a:r>
              <a:t>• Offres personnalisées</a:t>
            </a:r>
          </a:p>
          <a:p>
            <a:pPr>
              <a:defRPr sz="2000"/>
            </a:pPr>
            <a:r>
              <a:t>• Service premium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Les pertes cachées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Analyser les remises.</a:t>
            </a:r>
          </a:p>
          <a:p>
            <a:pPr>
              <a:defRPr sz="2000"/>
            </a:pPr>
            <a:r>
              <a:t>Contrôler les coûts.</a:t>
            </a:r>
          </a:p>
          <a:p>
            <a:pPr>
              <a:defRPr sz="2000"/>
            </a:pPr>
            <a:r>
              <a:t>Toutes les ventes ne créent pas de valeur.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L'évolution des ventes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Tendance haussière.</a:t>
            </a:r>
          </a:p>
          <a:p>
            <a:pPr>
              <a:defRPr sz="2000"/>
            </a:pPr>
            <a:r>
              <a:t>Pic : Novembre 2017.</a:t>
            </a:r>
          </a:p>
          <a:p>
            <a:pPr>
              <a:defRPr sz="2000"/>
            </a:pPr>
            <a:r>
              <a:t>Profiter de la saisonnalité.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L'insight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Texas, Ohio, Illinois et Pennsylvania vendent beaucoup mais perdent de l'argent.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6217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5 actions :</a:t>
            </a:r>
          </a:p>
          <a:p>
            <a:pPr>
              <a:defRPr sz="2000"/>
            </a:pPr>
            <a:r>
              <a:t>• Investir sur les marchés rentables</a:t>
            </a:r>
          </a:p>
          <a:p>
            <a:pPr>
              <a:defRPr sz="2000"/>
            </a:pPr>
            <a:r>
              <a:t>• Optimiser les marges</a:t>
            </a:r>
          </a:p>
          <a:p>
            <a:pPr>
              <a:defRPr sz="2000"/>
            </a:pPr>
            <a:r>
              <a:t>• Développer les produits rentables</a:t>
            </a:r>
          </a:p>
          <a:p>
            <a:pPr>
              <a:defRPr sz="2000"/>
            </a:pPr>
            <a:r>
              <a:t>• Fidéliser les meilleurs clients</a:t>
            </a:r>
          </a:p>
          <a:p>
            <a:pPr>
              <a:defRPr sz="2000"/>
            </a:pPr>
            <a:r>
              <a:t>• Décider grâce aux données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